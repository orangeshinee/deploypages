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4600" b="0" i="0">
                <a:solidFill>
                  <a:srgbClr val="141413"/>
                </a:solidFill>
                <a:latin typeface="Source Han Serif SC"/>
              </a:rPr>
              <a:t>OpenCode 入门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3383280"/>
            <a:ext cx="914400" cy="0"/>
          </a:xfrm>
          <a:prstGeom prst="line">
            <a:avLst/>
          </a:prstGeom>
          <a:ln w="19050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2000" b="0" i="0">
                <a:solidFill>
                  <a:srgbClr val="504E49"/>
                </a:solidFill>
                <a:latin typeface="Source Han Serif SC"/>
              </a:rPr>
              <a:t>不会写代码也能用的 AI 工作搭档
给数字化团队的一堂实操课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360152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400" b="0" i="0">
                <a:solidFill>
                  <a:srgbClr val="6B6A64"/>
                </a:solidFill>
                <a:latin typeface="Source Han Serif SC"/>
              </a:rPr>
              <a:t>河童 · 2026.06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100" b="0" i="0">
                <a:solidFill>
                  <a:srgbClr val="6B6A64"/>
                </a:solidFill>
                <a:latin typeface="Source Han Serif SC"/>
              </a:rPr>
              <a:t>01 · 为什么讲这个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800" b="1" i="0">
                <a:solidFill>
                  <a:srgbClr val="141413"/>
                </a:solidFill>
                <a:latin typeface="Source Han Serif SC"/>
              </a:rPr>
              <a:t>我们的日常工作，有一半时间花在了搬运信息上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286000"/>
            <a:ext cx="5029200" cy="1554480"/>
          </a:xfrm>
          <a:prstGeom prst="roundRect">
            <a:avLst/>
          </a:prstGeom>
          <a:solidFill>
            <a:srgbClr val="FAF9F5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3480" y="2362200"/>
            <a:ext cx="4572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200" b="1" i="0">
                <a:solidFill>
                  <a:srgbClr val="1B365D"/>
                </a:solidFill>
                <a:latin typeface="Source Han Serif SC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362200"/>
            <a:ext cx="41148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 i="0">
                <a:solidFill>
                  <a:srgbClr val="141413"/>
                </a:solidFill>
                <a:latin typeface="Source Han Serif SC"/>
              </a:rPr>
              <a:t>需求翻译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880360"/>
            <a:ext cx="4663440" cy="8229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 b="0" i="0">
                <a:solidFill>
                  <a:srgbClr val="3D3D3A"/>
                </a:solidFill>
                <a:latin typeface="Source Han Serif SC"/>
              </a:rPr>
              <a:t>业务方发来一段需求描述，你要翻译成技术语言给开发。
听懂人话、说清技术——这中间全是手工活。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286000"/>
            <a:ext cx="5029200" cy="1554480"/>
          </a:xfrm>
          <a:prstGeom prst="roundRect">
            <a:avLst/>
          </a:prstGeom>
          <a:solidFill>
            <a:srgbClr val="FAF9F5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59880" y="2362200"/>
            <a:ext cx="4572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200" b="1" i="0">
                <a:solidFill>
                  <a:srgbClr val="1B365D"/>
                </a:solidFill>
                <a:latin typeface="Source Han Serif SC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362200"/>
            <a:ext cx="41148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 i="0">
                <a:solidFill>
                  <a:srgbClr val="141413"/>
                </a:solidFill>
                <a:latin typeface="Source Han Serif SC"/>
              </a:rPr>
              <a:t>会议纪要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880360"/>
            <a:ext cx="4663440" cy="8229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 b="0" i="0">
                <a:solidFill>
                  <a:srgbClr val="3D3D3A"/>
                </a:solidFill>
                <a:latin typeface="Source Han Serif SC"/>
              </a:rPr>
              <a:t>开会记了一堆零散要点。整理成结构化的会议纪要、
按格式输出、确认待办——每次半小时起步。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114800"/>
            <a:ext cx="5029200" cy="1554480"/>
          </a:xfrm>
          <a:prstGeom prst="roundRect">
            <a:avLst/>
          </a:prstGeom>
          <a:solidFill>
            <a:srgbClr val="FAF9F5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3480" y="4191000"/>
            <a:ext cx="4572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200" b="1" i="0">
                <a:solidFill>
                  <a:srgbClr val="1B365D"/>
                </a:solidFill>
                <a:latin typeface="Source Han Serif SC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191000"/>
            <a:ext cx="41148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 i="0">
                <a:solidFill>
                  <a:srgbClr val="141413"/>
                </a:solidFill>
                <a:latin typeface="Source Han Serif SC"/>
              </a:rPr>
              <a:t>画流程图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709160"/>
            <a:ext cx="4663440" cy="8229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 b="0" i="0">
                <a:solidFill>
                  <a:srgbClr val="3D3D3A"/>
                </a:solidFill>
                <a:latin typeface="Source Han Serif SC"/>
              </a:rPr>
              <a:t>业务方说「帮我画个流程」，你打开工具拖拽画完。
改一版、重画一版——时间都花在了操作上。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4114800"/>
            <a:ext cx="5029200" cy="1554480"/>
          </a:xfrm>
          <a:prstGeom prst="roundRect">
            <a:avLst/>
          </a:prstGeom>
          <a:solidFill>
            <a:srgbClr val="FAF9F5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59880" y="4191000"/>
            <a:ext cx="4572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200" b="1" i="0">
                <a:solidFill>
                  <a:srgbClr val="1B365D"/>
                </a:solidFill>
                <a:latin typeface="Source Han Serif SC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191000"/>
            <a:ext cx="41148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 i="0">
                <a:solidFill>
                  <a:srgbClr val="141413"/>
                </a:solidFill>
                <a:latin typeface="Source Han Serif SC"/>
              </a:rPr>
              <a:t>数据整理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709160"/>
            <a:ext cx="4663440" cy="8229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 b="0" i="0">
                <a:solidFill>
                  <a:srgbClr val="3D3D3A"/>
                </a:solidFill>
                <a:latin typeface="Source Han Serif SC"/>
              </a:rPr>
              <a:t>Excel 从不同系统导出，格式五花八门。
手工筛选、合并、去重——脑子不累，手累。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97280" y="6126480"/>
            <a:ext cx="10058400" cy="0"/>
          </a:xfrm>
          <a:prstGeom prst="line">
            <a:avLst/>
          </a:prstGeom>
          <a:ln w="6350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97280" y="6217920"/>
            <a:ext cx="10058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300" b="0" i="0">
                <a:solidFill>
                  <a:srgbClr val="1B365D"/>
                </a:solidFill>
                <a:latin typeface="Source Han Serif SC"/>
              </a:rPr>
              <a:t>AI 不是替代你，是放大你。你做判断，它做执行。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309360"/>
            <a:ext cx="1371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/>
            <a:r>
              <a:rPr sz="1100" b="0" i="0">
                <a:solidFill>
                  <a:srgbClr val="6B6A64"/>
                </a:solidFill>
                <a:latin typeface="Source Han Serif SC"/>
              </a:rPr>
              <a:t>  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100" b="0" i="0">
                <a:solidFill>
                  <a:srgbClr val="6B6A64"/>
                </a:solidFill>
                <a:latin typeface="Source Han Serif SC"/>
              </a:rPr>
              <a:t>02 · AI 发展时间线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600" b="1" i="0">
                <a:solidFill>
                  <a:srgbClr val="141413"/>
                </a:solidFill>
                <a:latin typeface="Source Han Serif SC"/>
              </a:rPr>
              <a:t>从 2022 到 2026，AI 完成了从「回答问题」到「动手干活」的三级跳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2871216"/>
            <a:ext cx="109728" cy="109728"/>
          </a:xfrm>
          <a:prstGeom prst="ellipse">
            <a:avLst/>
          </a:prstGeom>
          <a:solidFill>
            <a:srgbClr val="6B6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6459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000" b="0" i="0">
                <a:solidFill>
                  <a:srgbClr val="6B6A64"/>
                </a:solidFill>
                <a:latin typeface="Source Han Serif SC"/>
              </a:rPr>
              <a:t>2022.11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64592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300" b="1" i="0">
                <a:solidFill>
                  <a:srgbClr val="141413"/>
                </a:solidFill>
                <a:latin typeface="Source Han Serif SC"/>
              </a:rPr>
              <a:t>ChatGPT +
DALL·E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164592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000" b="0" i="0">
                <a:solidFill>
                  <a:srgbClr val="6B6A64"/>
                </a:solidFill>
                <a:latin typeface="Source Han Serif SC"/>
              </a:rPr>
              <a:t>对话式 AI 的起点</a:t>
            </a:r>
          </a:p>
        </p:txBody>
      </p:sp>
      <p:sp>
        <p:nvSpPr>
          <p:cNvPr id="9" name="Oval 8"/>
          <p:cNvSpPr/>
          <p:nvPr/>
        </p:nvSpPr>
        <p:spPr>
          <a:xfrm>
            <a:off x="3017520" y="2871216"/>
            <a:ext cx="109728" cy="109728"/>
          </a:xfrm>
          <a:prstGeom prst="ellipse">
            <a:avLst/>
          </a:prstGeom>
          <a:solidFill>
            <a:srgbClr val="6B6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3108960"/>
            <a:ext cx="16459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000" b="0" i="0">
                <a:solidFill>
                  <a:srgbClr val="6B6A64"/>
                </a:solidFill>
                <a:latin typeface="Source Han Serif SC"/>
              </a:rPr>
              <a:t>2023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657600"/>
            <a:ext cx="164592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300" b="1" i="0">
                <a:solidFill>
                  <a:srgbClr val="141413"/>
                </a:solidFill>
                <a:latin typeface="Source Han Serif SC"/>
              </a:rPr>
              <a:t>GPT-4 ·
Midjourney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160520"/>
            <a:ext cx="164592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000" b="0" i="0">
                <a:solidFill>
                  <a:srgbClr val="6B6A64"/>
                </a:solidFill>
                <a:latin typeface="Source Han Serif SC"/>
              </a:rPr>
              <a:t>图像 AI 大爆发</a:t>
            </a:r>
          </a:p>
        </p:txBody>
      </p:sp>
      <p:sp>
        <p:nvSpPr>
          <p:cNvPr id="13" name="Oval 12"/>
          <p:cNvSpPr/>
          <p:nvPr/>
        </p:nvSpPr>
        <p:spPr>
          <a:xfrm>
            <a:off x="4846320" y="2871216"/>
            <a:ext cx="109728" cy="109728"/>
          </a:xfrm>
          <a:prstGeom prst="ellipse">
            <a:avLst/>
          </a:prstGeom>
          <a:solidFill>
            <a:srgbClr val="6B6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3108960"/>
            <a:ext cx="16459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000" b="0" i="0">
                <a:solidFill>
                  <a:srgbClr val="6B6A64"/>
                </a:solidFill>
                <a:latin typeface="Source Han Serif SC"/>
              </a:rPr>
              <a:t>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011680"/>
            <a:ext cx="164592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300" b="1" i="0">
                <a:solidFill>
                  <a:srgbClr val="141413"/>
                </a:solidFill>
                <a:latin typeface="Source Han Serif SC"/>
              </a:rPr>
              <a:t>Sora ·
Claude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514600"/>
            <a:ext cx="164592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000" b="0" i="0">
                <a:solidFill>
                  <a:srgbClr val="6B6A64"/>
                </a:solidFill>
                <a:latin typeface="Source Han Serif SC"/>
              </a:rPr>
              <a:t>视频元年
国产追赶</a:t>
            </a:r>
          </a:p>
        </p:txBody>
      </p:sp>
      <p:sp>
        <p:nvSpPr>
          <p:cNvPr id="17" name="Oval 16"/>
          <p:cNvSpPr/>
          <p:nvPr/>
        </p:nvSpPr>
        <p:spPr>
          <a:xfrm>
            <a:off x="6675120" y="2871216"/>
            <a:ext cx="109728" cy="109728"/>
          </a:xfrm>
          <a:prstGeom prst="ellipse">
            <a:avLst/>
          </a:prstGeom>
          <a:solidFill>
            <a:srgbClr val="6B6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3108960"/>
            <a:ext cx="16459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000" b="0" i="0">
                <a:solidFill>
                  <a:srgbClr val="6B6A64"/>
                </a:solidFill>
                <a:latin typeface="Source Han Serif SC"/>
              </a:rPr>
              <a:t>2025.01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657600"/>
            <a:ext cx="164592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300" b="1" i="0">
                <a:solidFill>
                  <a:srgbClr val="141413"/>
                </a:solidFill>
                <a:latin typeface="Source Han Serif SC"/>
              </a:rPr>
              <a:t>DeepSeek
R1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160520"/>
            <a:ext cx="164592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000" b="0" i="0">
                <a:solidFill>
                  <a:srgbClr val="6B6A64"/>
                </a:solidFill>
                <a:latin typeface="Source Han Serif SC"/>
              </a:rPr>
              <a:t>开源模型登顶</a:t>
            </a:r>
          </a:p>
        </p:txBody>
      </p:sp>
      <p:sp>
        <p:nvSpPr>
          <p:cNvPr id="21" name="Oval 20"/>
          <p:cNvSpPr/>
          <p:nvPr/>
        </p:nvSpPr>
        <p:spPr>
          <a:xfrm>
            <a:off x="8503920" y="2871216"/>
            <a:ext cx="109728" cy="109728"/>
          </a:xfrm>
          <a:prstGeom prst="ellipse">
            <a:avLst/>
          </a:prstGeom>
          <a:solidFill>
            <a:srgbClr val="6B6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0" y="3108960"/>
            <a:ext cx="16459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000" b="0" i="0">
                <a:solidFill>
                  <a:srgbClr val="6B6A64"/>
                </a:solidFill>
                <a:latin typeface="Source Han Serif SC"/>
              </a:rPr>
              <a:t>2025.03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2011680"/>
            <a:ext cx="164592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300" b="1" i="0">
                <a:solidFill>
                  <a:srgbClr val="141413"/>
                </a:solidFill>
                <a:latin typeface="Source Han Serif SC"/>
              </a:rPr>
              <a:t>Claude 3.7
Sonnet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0" y="2514600"/>
            <a:ext cx="164592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000" b="0" i="0">
                <a:solidFill>
                  <a:srgbClr val="6B6A64"/>
                </a:solidFill>
                <a:latin typeface="Source Han Serif SC"/>
              </a:rPr>
              <a:t>Agentic Coding
爆发</a:t>
            </a:r>
          </a:p>
        </p:txBody>
      </p:sp>
      <p:sp>
        <p:nvSpPr>
          <p:cNvPr id="25" name="Oval 24"/>
          <p:cNvSpPr/>
          <p:nvPr/>
        </p:nvSpPr>
        <p:spPr>
          <a:xfrm>
            <a:off x="10332720" y="2871216"/>
            <a:ext cx="109728" cy="109728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3108960"/>
            <a:ext cx="16459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000" b="0" i="0">
                <a:solidFill>
                  <a:srgbClr val="6B6A64"/>
                </a:solidFill>
                <a:latin typeface="Source Han Serif SC"/>
              </a:rPr>
              <a:t>2025-26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3657600"/>
            <a:ext cx="164592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300" b="1" i="0">
                <a:solidFill>
                  <a:srgbClr val="1B365D"/>
                </a:solidFill>
                <a:latin typeface="Source Han Serif SC"/>
              </a:rPr>
              <a:t>Agent 时代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4160520"/>
            <a:ext cx="164592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000" b="0" i="0">
                <a:solidFill>
                  <a:srgbClr val="6B6A64"/>
                </a:solidFill>
                <a:latin typeface="Source Han Serif SC"/>
              </a:rPr>
              <a:t>AI 从动嘴到
动手 ★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51560" y="2980944"/>
            <a:ext cx="10515600" cy="0"/>
          </a:xfrm>
          <a:prstGeom prst="line">
            <a:avLst/>
          </a:prstGeom>
          <a:ln w="12700">
            <a:solidFill>
              <a:srgbClr val="E8E6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14400" y="4572000"/>
            <a:ext cx="3200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100" b="1" i="0">
                <a:solidFill>
                  <a:srgbClr val="1B365D"/>
                </a:solidFill>
                <a:latin typeface="Source Han Serif SC"/>
              </a:rPr>
              <a:t>2022-23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892040"/>
            <a:ext cx="320040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000" b="0" i="0">
                <a:solidFill>
                  <a:srgbClr val="3D3D3A"/>
                </a:solidFill>
                <a:latin typeface="Source Han Serif SC"/>
              </a:rPr>
              <a:t>ChatGPT · DALL·E · Midjourney
豆包 APP · Kimi Chat 发布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572000"/>
            <a:ext cx="3200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100" b="1" i="0">
                <a:solidFill>
                  <a:srgbClr val="1B365D"/>
                </a:solidFill>
                <a:latin typeface="Source Han Serif SC"/>
              </a:rPr>
              <a:t>2024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892040"/>
            <a:ext cx="320040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000" b="0" i="0">
                <a:solidFill>
                  <a:srgbClr val="3D3D3A"/>
                </a:solidFill>
                <a:latin typeface="Source Han Serif SC"/>
              </a:rPr>
              <a:t>Sora · Claude 3 · 视频元年
MiniMax · 豆包大模型发布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572000"/>
            <a:ext cx="3200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100" b="1" i="0">
                <a:solidFill>
                  <a:srgbClr val="1B365D"/>
                </a:solidFill>
                <a:latin typeface="Source Han Serif SC"/>
              </a:rPr>
              <a:t>2025-26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892040"/>
            <a:ext cx="320040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000" b="0" i="0">
                <a:solidFill>
                  <a:srgbClr val="3D3D3A"/>
                </a:solidFill>
                <a:latin typeface="Source Han Serif SC"/>
              </a:rPr>
              <a:t>Claude 3.7 · DeepSeek R1 · OpenCode
Agent 时代 · 动手干活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309360"/>
            <a:ext cx="1371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/>
            <a:r>
              <a:rPr sz="1100" b="0" i="0">
                <a:solidFill>
                  <a:srgbClr val="6B6A64"/>
                </a:solidFill>
                <a:latin typeface="Source Han Serif SC"/>
              </a:rPr>
              <a:t>  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100" b="0" i="0">
                <a:solidFill>
                  <a:srgbClr val="6B6A64"/>
                </a:solidFill>
                <a:latin typeface="Source Han Serif SC"/>
              </a:rPr>
              <a:t>03 · 核心概念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800" b="1" i="0">
                <a:solidFill>
                  <a:srgbClr val="141413"/>
                </a:solidFill>
                <a:latin typeface="Source Han Serif SC"/>
              </a:rPr>
              <a:t>理解 AI 工具，只需要记住三个词：模型、Agent、Skill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286000"/>
            <a:ext cx="5029200" cy="1463040"/>
          </a:xfrm>
          <a:prstGeom prst="roundRect">
            <a:avLst/>
          </a:prstGeom>
          <a:solidFill>
            <a:srgbClr val="FAF9F5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3480" y="2362200"/>
            <a:ext cx="4572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200" b="1" i="0">
                <a:solidFill>
                  <a:srgbClr val="1B365D"/>
                </a:solidFill>
                <a:latin typeface="Source Han Serif SC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362200"/>
            <a:ext cx="41148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 i="0">
                <a:solidFill>
                  <a:srgbClr val="141413"/>
                </a:solidFill>
                <a:latin typeface="Source Han Serif SC"/>
              </a:rPr>
              <a:t>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834640"/>
            <a:ext cx="4663440" cy="8229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 b="0" i="0">
                <a:solidFill>
                  <a:srgbClr val="3D3D3A"/>
                </a:solidFill>
                <a:latin typeface="Source Han Serif SC"/>
              </a:rPr>
              <a:t>AI 的「大脑」。比如 DeepSeek、Claude、GPT。
它负责理解和生成内容，但不负责动手操作文件。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286000"/>
            <a:ext cx="5029200" cy="1463040"/>
          </a:xfrm>
          <a:prstGeom prst="roundRect">
            <a:avLst/>
          </a:prstGeom>
          <a:solidFill>
            <a:srgbClr val="FAF9F5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59880" y="2362200"/>
            <a:ext cx="4572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200" b="1" i="0">
                <a:solidFill>
                  <a:srgbClr val="1B365D"/>
                </a:solidFill>
                <a:latin typeface="Source Han Serif SC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362200"/>
            <a:ext cx="41148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 i="0">
                <a:solidFill>
                  <a:srgbClr val="141413"/>
                </a:solidFill>
                <a:latin typeface="Source Han Serif SC"/>
              </a:rPr>
              <a:t>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834640"/>
            <a:ext cx="4663440" cy="8229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 b="0" i="0">
                <a:solidFill>
                  <a:srgbClr val="3D3D3A"/>
                </a:solidFill>
                <a:latin typeface="Source Han Serif SC"/>
              </a:rPr>
              <a:t>AI 的「手脚」。能在你的电脑上读文件、写文件、
执行命令。把「想」变成「做」。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114800"/>
            <a:ext cx="5029200" cy="1463040"/>
          </a:xfrm>
          <a:prstGeom prst="roundRect">
            <a:avLst/>
          </a:prstGeom>
          <a:solidFill>
            <a:srgbClr val="FAF9F5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3480" y="4191000"/>
            <a:ext cx="4572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200" b="1" i="0">
                <a:solidFill>
                  <a:srgbClr val="1B365D"/>
                </a:solidFill>
                <a:latin typeface="Source Han Serif SC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191000"/>
            <a:ext cx="41148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 i="0">
                <a:solidFill>
                  <a:srgbClr val="141413"/>
                </a:solidFill>
                <a:latin typeface="Source Han Serif SC"/>
              </a:rPr>
              <a:t>Skill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663440"/>
            <a:ext cx="4663440" cy="8229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 b="0" i="0">
                <a:solidFill>
                  <a:srgbClr val="3D3D3A"/>
                </a:solidFill>
                <a:latin typeface="Source Han Serif SC"/>
              </a:rPr>
              <a:t>Agent 的「操作说明书」。你写好规则：
会议纪要按什么格式输出、SQL 按什么规范写。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4114800"/>
            <a:ext cx="5029200" cy="1463040"/>
          </a:xfrm>
          <a:prstGeom prst="roundRect">
            <a:avLst/>
          </a:prstGeom>
          <a:solidFill>
            <a:srgbClr val="FAF9F5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59880" y="4191000"/>
            <a:ext cx="4572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200" b="1" i="0">
                <a:solidFill>
                  <a:srgbClr val="1B365D"/>
                </a:solidFill>
                <a:latin typeface="Source Han Serif SC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191000"/>
            <a:ext cx="41148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 i="0">
                <a:solidFill>
                  <a:srgbClr val="141413"/>
                </a:solidFill>
                <a:latin typeface="Source Han Serif SC"/>
              </a:rPr>
              <a:t>类比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663440"/>
            <a:ext cx="4663440" cy="8229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 b="0" i="0">
                <a:solidFill>
                  <a:srgbClr val="3D3D3A"/>
                </a:solidFill>
                <a:latin typeface="Source Han Serif SC"/>
              </a:rPr>
              <a:t>LLM 是厨师，Agent 是主厨，Tool 是厨具，
Skill 是菜谱——下一张图就懂了。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309360"/>
            <a:ext cx="1371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/>
            <a:r>
              <a:rPr sz="1100" b="0" i="0">
                <a:solidFill>
                  <a:srgbClr val="6B6A64"/>
                </a:solidFill>
                <a:latin typeface="Source Han Serif SC"/>
              </a:rPr>
              <a:t>  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100" b="0" i="0">
                <a:solidFill>
                  <a:srgbClr val="6B6A64"/>
                </a:solidFill>
                <a:latin typeface="Source Han Serif SC"/>
              </a:rPr>
              <a:t>04 · 一张图看懂 AI 智能体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800" b="1" i="0">
                <a:solidFill>
                  <a:srgbClr val="141413"/>
                </a:solidFill>
                <a:latin typeface="Source Han Serif SC"/>
              </a:rPr>
              <a:t>厨房类比——把你的直觉带到 AI 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10058400" cy="22860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600" b="0" i="0">
                <a:solidFill>
                  <a:srgbClr val="504E49"/>
                </a:solidFill>
                <a:latin typeface="Source Han Serif SC"/>
              </a:rPr>
              <a:t>（请参阅 kitchen-analogy.jpg 全幅类比图）
或者跳过，看下一页的 10 组映射表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/>
            <a:r>
              <a:rPr sz="1100" b="0" i="0">
                <a:solidFill>
                  <a:srgbClr val="6B6A64"/>
                </a:solidFill>
                <a:latin typeface="Source Han Serif SC"/>
              </a:rPr>
              <a:t>  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100" b="0" i="0">
                <a:solidFill>
                  <a:srgbClr val="6B6A64"/>
                </a:solidFill>
                <a:latin typeface="Source Han Serif SC"/>
              </a:rPr>
              <a:t>05 · 厨房类比详解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600" b="1" i="0">
                <a:solidFill>
                  <a:srgbClr val="141413"/>
                </a:solidFill>
                <a:latin typeface="Source Han Serif SC"/>
              </a:rPr>
              <a:t>十个厨房角色，对应十个 AI 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56032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300" b="1" i="0">
                <a:solidFill>
                  <a:srgbClr val="1B365D"/>
                </a:solidFill>
                <a:latin typeface="Source Han Serif SC"/>
              </a:rPr>
              <a:t>LLM = 厨师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2103120"/>
            <a:ext cx="768096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 i="0">
                <a:solidFill>
                  <a:srgbClr val="3D3D3A"/>
                </a:solidFill>
                <a:latin typeface="Source Han Serif SC"/>
              </a:rPr>
              <a:t>掌握海量知识，但空有知识做不出菜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42032"/>
            <a:ext cx="256032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300" b="1" i="0">
                <a:solidFill>
                  <a:srgbClr val="1B365D"/>
                </a:solidFill>
                <a:latin typeface="Source Han Serif SC"/>
              </a:rPr>
              <a:t>Prompt = 点单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542032"/>
            <a:ext cx="768096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 i="0">
                <a:solidFill>
                  <a:srgbClr val="3D3D3A"/>
                </a:solidFill>
                <a:latin typeface="Source Han Serif SC"/>
              </a:rPr>
              <a:t>「宫保鸡丁，不要辣，少油」——描述越清晰，结果越满意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80944"/>
            <a:ext cx="256032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300" b="1" i="0">
                <a:solidFill>
                  <a:srgbClr val="1B365D"/>
                </a:solidFill>
                <a:latin typeface="Source Han Serif SC"/>
              </a:rPr>
              <a:t>Context = 厨房信息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80944"/>
            <a:ext cx="768096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 i="0">
                <a:solidFill>
                  <a:srgbClr val="3D3D3A"/>
                </a:solidFill>
                <a:latin typeface="Source Han Serif SC"/>
              </a:rPr>
              <a:t>冰箱有什么、花生过敏——Context 让厨师做对菜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19856"/>
            <a:ext cx="256032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300" b="1" i="0">
                <a:solidFill>
                  <a:srgbClr val="1B365D"/>
                </a:solidFill>
                <a:latin typeface="Source Han Serif SC"/>
              </a:rPr>
              <a:t>Tool = 厨具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419856"/>
            <a:ext cx="768096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 i="0">
                <a:solidFill>
                  <a:srgbClr val="3D3D3A"/>
                </a:solidFill>
                <a:latin typeface="Source Han Serif SC"/>
              </a:rPr>
              <a:t>没有烤箱烤不了面包，没有 API 查不了天气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58768"/>
            <a:ext cx="256032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300" b="1" i="0">
                <a:solidFill>
                  <a:srgbClr val="1B365D"/>
                </a:solidFill>
                <a:latin typeface="Source Han Serif SC"/>
              </a:rPr>
              <a:t>Skill = 菜谱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858768"/>
            <a:ext cx="768096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 i="0">
                <a:solidFill>
                  <a:srgbClr val="3D3D3A"/>
                </a:solidFill>
                <a:latin typeface="Source Han Serif SC"/>
              </a:rPr>
              <a:t>固定流程：分析供应商风险→搜索→提取→评分→报告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297679"/>
            <a:ext cx="256032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300" b="1" i="0">
                <a:solidFill>
                  <a:srgbClr val="1B365D"/>
                </a:solidFill>
                <a:latin typeface="Source Han Serif SC"/>
              </a:rPr>
              <a:t>Memory = 厨师经验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297679"/>
            <a:ext cx="768096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 i="0">
                <a:solidFill>
                  <a:srgbClr val="3D3D3A"/>
                </a:solidFill>
                <a:latin typeface="Source Han Serif SC"/>
              </a:rPr>
              <a:t>老厨师记得老王喜辣——AI 的 Memory 记得你偏好 Python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736592"/>
            <a:ext cx="256032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300" b="1" i="0">
                <a:solidFill>
                  <a:srgbClr val="1B365D"/>
                </a:solidFill>
                <a:latin typeface="Source Han Serif SC"/>
              </a:rPr>
              <a:t>Workflow = SOP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736592"/>
            <a:ext cx="768096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 i="0">
                <a:solidFill>
                  <a:srgbClr val="3D3D3A"/>
                </a:solidFill>
                <a:latin typeface="Source Han Serif SC"/>
              </a:rPr>
              <a:t>麦当劳后厨：接单→炒菜→装盘。步骤固定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175504"/>
            <a:ext cx="256032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300" b="1" i="0">
                <a:solidFill>
                  <a:srgbClr val="1B365D"/>
                </a:solidFill>
                <a:latin typeface="Source Han Serif SC"/>
              </a:rPr>
              <a:t>Agent = 主厨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5175504"/>
            <a:ext cx="768096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 i="0">
                <a:solidFill>
                  <a:srgbClr val="3D3D3A"/>
                </a:solidFill>
                <a:latin typeface="Source Han Serif SC"/>
              </a:rPr>
              <a:t>没有鸡腿肉→换鸡胸肉。核心是自主决策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614416"/>
            <a:ext cx="256032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300" b="1" i="0">
                <a:solidFill>
                  <a:srgbClr val="1B365D"/>
                </a:solidFill>
                <a:latin typeface="Source Han Serif SC"/>
              </a:rPr>
              <a:t>Multi-Agent = 后厨团队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5614416"/>
            <a:ext cx="768096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 i="0">
                <a:solidFill>
                  <a:srgbClr val="3D3D3A"/>
                </a:solidFill>
                <a:latin typeface="Source Han Serif SC"/>
              </a:rPr>
              <a:t>凉菜、炒锅、烧烤各司其职——搜索 Agent、分析 Agent 协同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6053328"/>
            <a:ext cx="256032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300" b="1" i="0">
                <a:solidFill>
                  <a:srgbClr val="1B365D"/>
                </a:solidFill>
                <a:latin typeface="Source Han Serif SC"/>
              </a:rPr>
              <a:t>MCP = 统一接口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6053328"/>
            <a:ext cx="768096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 i="0">
                <a:solidFill>
                  <a:srgbClr val="3D3D3A"/>
                </a:solidFill>
                <a:latin typeface="Source Han Serif SC"/>
              </a:rPr>
              <a:t>以前各用各的开关，现在都插 USB-C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309360"/>
            <a:ext cx="1371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/>
            <a:r>
              <a:rPr sz="1100" b="0" i="0">
                <a:solidFill>
                  <a:srgbClr val="6B6A64"/>
                </a:solidFill>
                <a:latin typeface="Source Han Serif SC"/>
              </a:rPr>
              <a:t>  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100" b="0" i="0">
                <a:solidFill>
                  <a:srgbClr val="6B6A64"/>
                </a:solidFill>
                <a:latin typeface="Source Han Serif SC"/>
              </a:rPr>
              <a:t>06 · 概念澄清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800" b="1" i="0">
                <a:solidFill>
                  <a:srgbClr val="141413"/>
                </a:solidFill>
                <a:latin typeface="Source Han Serif SC"/>
              </a:rPr>
              <a:t>模型 ≠ 产品。一个是引擎，一个是车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103120"/>
            <a:ext cx="5029200" cy="1645920"/>
          </a:xfrm>
          <a:prstGeom prst="roundRect">
            <a:avLst/>
          </a:prstGeom>
          <a:solidFill>
            <a:srgbClr val="FAF9F5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3480" y="2179320"/>
            <a:ext cx="4572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200" b="1" i="0">
                <a:solidFill>
                  <a:srgbClr val="1B365D"/>
                </a:solidFill>
                <a:latin typeface="Source Han Serif SC"/>
              </a:rPr>
              <a:t>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79320"/>
            <a:ext cx="41148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 i="0">
                <a:solidFill>
                  <a:srgbClr val="141413"/>
                </a:solidFill>
                <a:latin typeface="Source Han Serif SC"/>
              </a:rPr>
              <a:t>模型（Model）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97480"/>
            <a:ext cx="46634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 b="0" i="0">
                <a:solidFill>
                  <a:srgbClr val="3D3D3A"/>
                </a:solidFill>
                <a:latin typeface="Source Han Serif SC"/>
              </a:rPr>
              <a:t>AI 的「大脑引擎」。GPT-5.5、Claude 4、DeepSeek V3 都是模型。
你没发直接跟模型聊天——没有界面。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103120"/>
            <a:ext cx="5029200" cy="1645920"/>
          </a:xfrm>
          <a:prstGeom prst="roundRect">
            <a:avLst/>
          </a:prstGeom>
          <a:solidFill>
            <a:srgbClr val="FAF9F5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59880" y="2179320"/>
            <a:ext cx="4572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200" b="1" i="0">
                <a:solidFill>
                  <a:srgbClr val="1B365D"/>
                </a:solidFill>
                <a:latin typeface="Source Han Serif SC"/>
              </a:rPr>
              <a:t>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179320"/>
            <a:ext cx="41148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 i="0">
                <a:solidFill>
                  <a:srgbClr val="141413"/>
                </a:solidFill>
                <a:latin typeface="Source Han Serif SC"/>
              </a:rPr>
              <a:t>产品（Product）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697480"/>
            <a:ext cx="46634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 b="0" i="0">
                <a:solidFill>
                  <a:srgbClr val="3D3D3A"/>
                </a:solidFill>
                <a:latin typeface="Source Han Serif SC"/>
              </a:rPr>
              <a:t>用户实际面对的界面。ChatGPT、Kimi、豆包。
产品决定你怎么交互，模型决定聪不聪明。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114800"/>
            <a:ext cx="5029200" cy="1645920"/>
          </a:xfrm>
          <a:prstGeom prst="roundRect">
            <a:avLst/>
          </a:prstGeom>
          <a:solidFill>
            <a:srgbClr val="FAF9F5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3480" y="4191000"/>
            <a:ext cx="4572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200" b="1" i="0">
                <a:solidFill>
                  <a:srgbClr val="1B365D"/>
                </a:solidFill>
                <a:latin typeface="Source Han Serif SC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191000"/>
            <a:ext cx="41148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 i="0">
                <a:solidFill>
                  <a:srgbClr val="141413"/>
                </a:solidFill>
                <a:latin typeface="Source Han Serif SC"/>
              </a:rPr>
              <a:t>类比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709160"/>
            <a:ext cx="46634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 b="0" i="0">
                <a:solidFill>
                  <a:srgbClr val="3D3D3A"/>
                </a:solidFill>
                <a:latin typeface="Source Han Serif SC"/>
              </a:rPr>
              <a:t>模型是发动机，产品是整辆车。
法拉利和五菱的发动机不同，但都能从 A 到 B。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4114800"/>
            <a:ext cx="5029200" cy="1645920"/>
          </a:xfrm>
          <a:prstGeom prst="roundRect">
            <a:avLst/>
          </a:prstGeom>
          <a:solidFill>
            <a:srgbClr val="FAF9F5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59880" y="4191000"/>
            <a:ext cx="4572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200" b="1" i="0">
                <a:solidFill>
                  <a:srgbClr val="1B365D"/>
                </a:solidFill>
                <a:latin typeface="Source Han Serif S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191000"/>
            <a:ext cx="41148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 i="0">
                <a:solidFill>
                  <a:srgbClr val="141413"/>
                </a:solidFill>
                <a:latin typeface="Source Han Serif SC"/>
              </a:rPr>
              <a:t>为什么重要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709160"/>
            <a:ext cx="46634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 b="0" i="0">
                <a:solidFill>
                  <a:srgbClr val="3D3D3A"/>
                </a:solidFill>
                <a:latin typeface="Source Han Serif SC"/>
              </a:rPr>
              <a:t>OpenCode 不挑发动机——DeepSeek、Claude、GPT 随便换。
这是它和 ChatGPT 的根本区别。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97280" y="6126480"/>
            <a:ext cx="10058400" cy="0"/>
          </a:xfrm>
          <a:prstGeom prst="line">
            <a:avLst/>
          </a:prstGeom>
          <a:ln w="6350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97280" y="6217920"/>
            <a:ext cx="10058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300" b="0" i="0">
                <a:solidFill>
                  <a:srgbClr val="1B365D"/>
                </a:solidFill>
                <a:latin typeface="Source Han Serif SC"/>
              </a:rPr>
              <a:t>OpenCode = 车架（Agent 系统） + 任意发动机（模型）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309360"/>
            <a:ext cx="1371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/>
            <a:r>
              <a:rPr sz="1100" b="0" i="0">
                <a:solidFill>
                  <a:srgbClr val="6B6A64"/>
                </a:solidFill>
                <a:latin typeface="Source Han Serif SC"/>
              </a:rPr>
              <a:t>  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100" b="0" i="0">
                <a:solidFill>
                  <a:srgbClr val="6B6A64"/>
                </a:solidFill>
                <a:latin typeface="Source Han Serif SC"/>
              </a:rPr>
              <a:t>07 · 怎么跟 AI 说话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800" b="1" i="0">
                <a:solidFill>
                  <a:srgbClr val="141413"/>
                </a:solidFill>
                <a:latin typeface="Source Han Serif SC"/>
              </a:rPr>
              <a:t>万能公式：任务 + 背景 + 格式 + 约束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194560"/>
            <a:ext cx="5029200" cy="1554480"/>
          </a:xfrm>
          <a:prstGeom prst="roundRect">
            <a:avLst/>
          </a:prstGeom>
          <a:solidFill>
            <a:srgbClr val="FAF9F5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3480" y="2270760"/>
            <a:ext cx="4572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000" b="1" i="0">
                <a:solidFill>
                  <a:srgbClr val="1B365D"/>
                </a:solidFill>
                <a:latin typeface="Source Han Serif SC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270760"/>
            <a:ext cx="41148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700" b="1" i="0">
                <a:solidFill>
                  <a:srgbClr val="141413"/>
                </a:solidFill>
                <a:latin typeface="Source Han Serif SC"/>
              </a:rPr>
              <a:t>任务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97480"/>
            <a:ext cx="466344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 i="0">
                <a:solidFill>
                  <a:srgbClr val="3D3D3A"/>
                </a:solidFill>
                <a:latin typeface="Source Han Serif SC"/>
              </a:rPr>
              <a:t>告诉它你要什么
越具体越好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154680"/>
            <a:ext cx="466344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100" b="0" i="0">
                <a:solidFill>
                  <a:srgbClr val="1B365D"/>
                </a:solidFill>
                <a:latin typeface="Consolas"/>
              </a:rPr>
              <a:t>「把这份会议纪要整理成标准格式」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194560"/>
            <a:ext cx="5029200" cy="1554480"/>
          </a:xfrm>
          <a:prstGeom prst="roundRect">
            <a:avLst/>
          </a:prstGeom>
          <a:solidFill>
            <a:srgbClr val="FAF9F5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9880" y="2270760"/>
            <a:ext cx="4572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000" b="1" i="0">
                <a:solidFill>
                  <a:srgbClr val="1B365D"/>
                </a:solidFill>
                <a:latin typeface="Source Han Serif SC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270760"/>
            <a:ext cx="41148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700" b="1" i="0">
                <a:solidFill>
                  <a:srgbClr val="141413"/>
                </a:solidFill>
                <a:latin typeface="Source Han Serif SC"/>
              </a:rPr>
              <a:t>背景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697480"/>
            <a:ext cx="466344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 i="0">
                <a:solidFill>
                  <a:srgbClr val="3D3D3A"/>
                </a:solidFill>
                <a:latin typeface="Source Han Serif SC"/>
              </a:rPr>
              <a:t>给它上下文
它才能做对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154680"/>
            <a:ext cx="466344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100" b="0" i="0">
                <a:solidFill>
                  <a:srgbClr val="1B365D"/>
                </a:solidFill>
                <a:latin typeface="Consolas"/>
              </a:rPr>
              <a:t>「这是供应链部门周例会」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4023360"/>
            <a:ext cx="5029200" cy="1554480"/>
          </a:xfrm>
          <a:prstGeom prst="roundRect">
            <a:avLst/>
          </a:prstGeom>
          <a:solidFill>
            <a:srgbClr val="FAF9F5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3480" y="4099560"/>
            <a:ext cx="4572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000" b="1" i="0">
                <a:solidFill>
                  <a:srgbClr val="1B365D"/>
                </a:solidFill>
                <a:latin typeface="Source Han Serif SC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099560"/>
            <a:ext cx="41148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700" b="1" i="0">
                <a:solidFill>
                  <a:srgbClr val="141413"/>
                </a:solidFill>
                <a:latin typeface="Source Han Serif SC"/>
              </a:rPr>
              <a:t>格式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526280"/>
            <a:ext cx="466344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 i="0">
                <a:solidFill>
                  <a:srgbClr val="3D3D3A"/>
                </a:solidFill>
                <a:latin typeface="Source Han Serif SC"/>
              </a:rPr>
              <a:t>指定输出格式
不说就全靠猜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983480"/>
            <a:ext cx="466344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100" b="0" i="0">
                <a:solidFill>
                  <a:srgbClr val="1B365D"/>
                </a:solidFill>
                <a:latin typeface="Consolas"/>
              </a:rPr>
              <a:t>「用表格输出，每行一条待办」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4023360"/>
            <a:ext cx="5029200" cy="1554480"/>
          </a:xfrm>
          <a:prstGeom prst="roundRect">
            <a:avLst/>
          </a:prstGeom>
          <a:solidFill>
            <a:srgbClr val="FAF9F5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9880" y="4099560"/>
            <a:ext cx="4572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000" b="1" i="0">
                <a:solidFill>
                  <a:srgbClr val="1B365D"/>
                </a:solidFill>
                <a:latin typeface="Source Han Serif SC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099560"/>
            <a:ext cx="41148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700" b="1" i="0">
                <a:solidFill>
                  <a:srgbClr val="141413"/>
                </a:solidFill>
                <a:latin typeface="Source Han Serif SC"/>
              </a:rPr>
              <a:t>约束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526280"/>
            <a:ext cx="466344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 i="0">
                <a:solidFill>
                  <a:srgbClr val="3D3D3A"/>
                </a:solidFill>
                <a:latin typeface="Source Han Serif SC"/>
              </a:rPr>
              <a:t>给它边界
长度、语言、风格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983480"/>
            <a:ext cx="466344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100" b="0" i="0">
                <a:solidFill>
                  <a:srgbClr val="1B365D"/>
                </a:solidFill>
                <a:latin typeface="Consolas"/>
              </a:rPr>
              <a:t>「不要超过一页，用中文」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5486400"/>
            <a:ext cx="10058400" cy="548640"/>
          </a:xfrm>
          <a:prstGeom prst="roundRect">
            <a:avLst/>
          </a:prstGeom>
          <a:solidFill>
            <a:srgbClr val="EEF2F7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0160" y="5532120"/>
            <a:ext cx="969264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300" b="0" i="0">
                <a:solidFill>
                  <a:srgbClr val="141413"/>
                </a:solidFill>
                <a:latin typeface="Source Han Serif SC"/>
              </a:rPr>
              <a:t>完整示例：“把这份会议纪要整理成标准格式，包含待办事项和负责人，用表格输出，不要超过一页”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309360"/>
            <a:ext cx="1371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/>
            <a:r>
              <a:rPr sz="1100" b="0" i="0">
                <a:solidFill>
                  <a:srgbClr val="6B6A64"/>
                </a:solidFill>
                <a:latin typeface="Source Han Serif SC"/>
              </a:rPr>
              <a:t>  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100" b="0" i="0">
                <a:solidFill>
                  <a:srgbClr val="6B6A64"/>
                </a:solidFill>
                <a:latin typeface="Source Han Serif SC"/>
              </a:rPr>
              <a:t>08 · 认识 OpenCode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800" b="1" i="0">
                <a:solidFill>
                  <a:srgbClr val="141413"/>
                </a:solidFill>
                <a:latin typeface="Source Han Serif SC"/>
              </a:rPr>
              <a:t>OpenCode 不是编程工具，它能帮你操作文件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1005840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 b="0" i="0">
                <a:solidFill>
                  <a:srgbClr val="3D3D3A"/>
                </a:solidFill>
                <a:latin typeface="Source Han Serif SC"/>
              </a:rPr>
              <a:t>一个 AI Agent 系统。给它一个文件夹，它会自己读文档、改文件、
然后告诉你做了什么。不挑模型——可以用 DeepSeek、Claude、GPT 任意一种。免费、开源。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926080"/>
            <a:ext cx="3108960" cy="822960"/>
          </a:xfrm>
          <a:prstGeom prst="roundRect">
            <a:avLst/>
          </a:prstGeom>
          <a:solidFill>
            <a:srgbClr val="EEF2F7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3480" y="2971800"/>
            <a:ext cx="292608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600" b="1" i="0">
                <a:solidFill>
                  <a:srgbClr val="141413"/>
                </a:solidFill>
                <a:latin typeface="Source Han Serif SC"/>
              </a:rPr>
              <a:t>终端（TUI）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3480" y="3337560"/>
            <a:ext cx="292608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 i="0">
                <a:solidFill>
                  <a:srgbClr val="504E49"/>
                </a:solidFill>
                <a:latin typeface="Source Han Serif SC"/>
              </a:rPr>
              <a:t>最经典的模式，打字交互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926080"/>
            <a:ext cx="3108960" cy="822960"/>
          </a:xfrm>
          <a:prstGeom prst="roundRect">
            <a:avLst/>
          </a:prstGeom>
          <a:solidFill>
            <a:srgbClr val="EEF2F7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8200" y="2971800"/>
            <a:ext cx="292608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600" b="1" i="0">
                <a:solidFill>
                  <a:srgbClr val="141413"/>
                </a:solidFill>
                <a:latin typeface="Source Han Serif SC"/>
              </a:rPr>
              <a:t>网页界面（Web）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8200" y="3337560"/>
            <a:ext cx="292608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 i="0">
                <a:solidFill>
                  <a:srgbClr val="504E49"/>
                </a:solidFill>
                <a:latin typeface="Source Han Serif SC"/>
              </a:rPr>
              <a:t>一键启动浏览器访问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2926080"/>
            <a:ext cx="3108960" cy="822960"/>
          </a:xfrm>
          <a:prstGeom prst="roundRect">
            <a:avLst/>
          </a:prstGeom>
          <a:solidFill>
            <a:srgbClr val="EEF2F7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2919" y="2971800"/>
            <a:ext cx="292608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600" b="1" i="0">
                <a:solidFill>
                  <a:srgbClr val="141413"/>
                </a:solidFill>
                <a:latin typeface="Source Han Serif SC"/>
              </a:rPr>
              <a:t>桌面应用（Desktop）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2919" y="3337560"/>
            <a:ext cx="292608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 i="0">
                <a:solidFill>
                  <a:srgbClr val="504E49"/>
                </a:solidFill>
                <a:latin typeface="Source Han Serif SC"/>
              </a:rPr>
              <a:t>macOS / Windows / Linux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4114800"/>
            <a:ext cx="7589520" cy="822960"/>
          </a:xfrm>
          <a:prstGeom prst="roundRect">
            <a:avLst/>
          </a:prstGeom>
          <a:solidFill>
            <a:srgbClr val="EEF2F7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4114800"/>
            <a:ext cx="7589520" cy="8229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300" b="0" i="0">
                <a:solidFill>
                  <a:srgbClr val="1B365D"/>
                </a:solidFill>
                <a:latin typeface="Source Han Serif SC"/>
              </a:rPr>
              <a:t>🖼 [图片占位符：OpenCode 各界面截图]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97280" y="6126480"/>
            <a:ext cx="10058400" cy="0"/>
          </a:xfrm>
          <a:prstGeom prst="line">
            <a:avLst/>
          </a:prstGeom>
          <a:ln w="6350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97280" y="6217920"/>
            <a:ext cx="10058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300" b="0" i="0">
                <a:solidFill>
                  <a:srgbClr val="1B365D"/>
                </a:solidFill>
                <a:latin typeface="Source Han Serif SC"/>
              </a:rPr>
              <a:t>打个比方：DeepSeek 像电话咨询，OpenCode 像上门服务。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309360"/>
            <a:ext cx="1371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/>
            <a:r>
              <a:rPr sz="1100" b="0" i="0">
                <a:solidFill>
                  <a:srgbClr val="6B6A64"/>
                </a:solidFill>
                <a:latin typeface="Source Han Serif SC"/>
              </a:rPr>
              <a:t>  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100" b="0" i="0">
                <a:solidFill>
                  <a:srgbClr val="6B6A64"/>
                </a:solidFill>
                <a:latin typeface="Source Han Serif SC"/>
              </a:rPr>
              <a:t>09 · 工具对比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800" b="1" i="0">
                <a:solidFill>
                  <a:srgbClr val="141413"/>
                </a:solidFill>
                <a:latin typeface="Source Han Serif SC"/>
              </a:rPr>
              <a:t>五款 AI 工具横向对比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103120"/>
            <a:ext cx="10058400" cy="2011680"/>
          </a:xfrm>
          <a:prstGeom prst="roundRect">
            <a:avLst/>
          </a:prstGeom>
          <a:solidFill>
            <a:srgbClr val="FAF9F5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286000"/>
            <a:ext cx="201168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300" b="0" i="0">
                <a:solidFill>
                  <a:srgbClr val="141413"/>
                </a:solidFill>
                <a:latin typeface="Source Han Serif SC"/>
              </a:rPr>
              <a:t>DeepSeek 网页版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286000"/>
            <a:ext cx="502920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 i="0">
                <a:solidFill>
                  <a:srgbClr val="3D3D3A"/>
                </a:solidFill>
                <a:latin typeface="Source Han Serif SC"/>
              </a:rPr>
              <a:t>浏览器，免费，只能聊天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286000"/>
            <a:ext cx="228600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 i="0">
                <a:solidFill>
                  <a:srgbClr val="6B6A64"/>
                </a:solidFill>
                <a:latin typeface="Source Han Serif SC"/>
              </a:rPr>
              <a:t>日常问答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743200"/>
            <a:ext cx="201168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300" b="0" i="0">
                <a:solidFill>
                  <a:srgbClr val="141413"/>
                </a:solidFill>
                <a:latin typeface="Source Han Serif SC"/>
              </a:rPr>
              <a:t>ChatGPT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743200"/>
            <a:ext cx="502920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 i="0">
                <a:solidFill>
                  <a:srgbClr val="3D3D3A"/>
                </a:solidFill>
                <a:latin typeface="Source Han Serif SC"/>
              </a:rPr>
              <a:t>浏览器/App，免费或付费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743200"/>
            <a:ext cx="228600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 i="0">
                <a:solidFill>
                  <a:srgbClr val="6B6A64"/>
                </a:solidFill>
                <a:latin typeface="Source Han Serif SC"/>
              </a:rPr>
              <a:t>通用场景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200400"/>
            <a:ext cx="201168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300" b="1" i="0">
                <a:solidFill>
                  <a:srgbClr val="1B365D"/>
                </a:solidFill>
                <a:latin typeface="Source Han Serif SC"/>
              </a:rPr>
              <a:t>OpenCode 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200400"/>
            <a:ext cx="502920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 i="0">
                <a:solidFill>
                  <a:srgbClr val="3D3D3A"/>
                </a:solidFill>
                <a:latin typeface="Source Han Serif SC"/>
              </a:rPr>
              <a:t>终端，免费开源。能读写文件能执行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200400"/>
            <a:ext cx="228600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 i="0">
                <a:solidFill>
                  <a:srgbClr val="6B6A64"/>
                </a:solidFill>
                <a:latin typeface="Source Han Serif SC"/>
              </a:rPr>
              <a:t>数字化团队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657600"/>
            <a:ext cx="201168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300" b="0" i="0">
                <a:solidFill>
                  <a:srgbClr val="141413"/>
                </a:solidFill>
                <a:latin typeface="Source Han Serif SC"/>
              </a:rPr>
              <a:t>Claude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657600"/>
            <a:ext cx="502920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 i="0">
                <a:solidFill>
                  <a:srgbClr val="3D3D3A"/>
                </a:solidFill>
                <a:latin typeface="Source Han Serif SC"/>
              </a:rPr>
              <a:t>终端，API 付费。面向专业开发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657600"/>
            <a:ext cx="228600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 i="0">
                <a:solidFill>
                  <a:srgbClr val="6B6A64"/>
                </a:solidFill>
                <a:latin typeface="Source Han Serif SC"/>
              </a:rPr>
              <a:t>专业开发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389120"/>
            <a:ext cx="10058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600" b="1" i="0">
                <a:solidFill>
                  <a:srgbClr val="141413"/>
                </a:solidFill>
                <a:latin typeface="Source Han Serif SC"/>
              </a:rPr>
              <a:t>关于 OpenClaw（小龙虾）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4846320"/>
            <a:ext cx="4754880" cy="548640"/>
          </a:xfrm>
          <a:prstGeom prst="roundRect">
            <a:avLst/>
          </a:prstGeom>
          <a:solidFill>
            <a:srgbClr val="EEF2F7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4892040"/>
            <a:ext cx="438912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 i="0">
                <a:solidFill>
                  <a:srgbClr val="3D3D3A"/>
                </a:solidFill>
                <a:latin typeface="Source Han Serif SC"/>
              </a:rPr>
              <a:t>能做：终端里的轻量编码助手，免费开源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846320"/>
            <a:ext cx="4937760" cy="548640"/>
          </a:xfrm>
          <a:prstGeom prst="roundRect">
            <a:avLst/>
          </a:prstGeom>
          <a:solidFill>
            <a:srgbClr val="FAF9F5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892040"/>
            <a:ext cx="45720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 i="0">
                <a:solidFill>
                  <a:srgbClr val="3D3D3A"/>
                </a:solidFill>
                <a:latin typeface="Source Han Serif SC"/>
              </a:rPr>
              <a:t>不能做：团队协作、Skill 系统、多模型切换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97280" y="6126480"/>
            <a:ext cx="10058400" cy="0"/>
          </a:xfrm>
          <a:prstGeom prst="line">
            <a:avLst/>
          </a:prstGeom>
          <a:ln w="6350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97280" y="6217920"/>
            <a:ext cx="10058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300" b="0" i="0">
                <a:solidFill>
                  <a:srgbClr val="1B365D"/>
                </a:solidFill>
                <a:latin typeface="Source Han Serif SC"/>
              </a:rPr>
              <a:t>结论：DeepSeek / ChatGPT 像电话咨询，OpenCode 像上门服务。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309360"/>
            <a:ext cx="1371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/>
            <a:r>
              <a:rPr sz="1100" b="0" i="0">
                <a:solidFill>
                  <a:srgbClr val="6B6A64"/>
                </a:solidFill>
                <a:latin typeface="Source Han Serif SC"/>
              </a:rPr>
              <a:t>  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100" b="0" i="0">
                <a:solidFill>
                  <a:srgbClr val="6B6A64"/>
                </a:solidFill>
                <a:latin typeface="Source Han Serif SC"/>
              </a:rPr>
              <a:t>10 · 工作原理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600" b="1" i="0">
                <a:solidFill>
                  <a:srgbClr val="141413"/>
                </a:solidFill>
                <a:latin typeface="Source Han Serif SC"/>
              </a:rPr>
              <a:t>打开终端、描述任务、它自己翻文件干活——就这三步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194560"/>
            <a:ext cx="4754880" cy="1645920"/>
          </a:xfrm>
          <a:prstGeom prst="roundRect">
            <a:avLst/>
          </a:prstGeom>
          <a:solidFill>
            <a:srgbClr val="EEF2F7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286000"/>
            <a:ext cx="43891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600" b="1" i="0">
                <a:solidFill>
                  <a:srgbClr val="141413"/>
                </a:solidFill>
                <a:latin typeface="Source Han Serif SC"/>
              </a:rPr>
              <a:t>你说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743200"/>
            <a:ext cx="438912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 b="0" i="0">
                <a:solidFill>
                  <a:srgbClr val="3D3D3A"/>
                </a:solidFill>
                <a:latin typeface="Source Han Serif SC"/>
              </a:rPr>
              <a:t>「帮我把这个需求描述转成 SQL，
按品类汇总华南区过去三个月的退货率」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194560"/>
            <a:ext cx="4754880" cy="1645920"/>
          </a:xfrm>
          <a:prstGeom prst="roundRect">
            <a:avLst/>
          </a:prstGeom>
          <a:solidFill>
            <a:srgbClr val="EEF2F7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3891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600" b="1" i="0">
                <a:solidFill>
                  <a:srgbClr val="141413"/>
                </a:solidFill>
                <a:latin typeface="Source Han Serif SC"/>
              </a:rPr>
              <a:t>它做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743200"/>
            <a:ext cx="438912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300" b="0" i="0">
                <a:solidFill>
                  <a:srgbClr val="3D3D3A"/>
                </a:solidFill>
                <a:latin typeface="Source Han Serif SC"/>
              </a:rPr>
              <a:t>先读文档 → 理解需求 → 生成 SQL →
每一步写成注释 → 告诉你改了哪里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06240"/>
            <a:ext cx="100584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 b="0" i="0">
                <a:solidFill>
                  <a:srgbClr val="3D3D3A"/>
                </a:solidFill>
                <a:latin typeface="Source Han Serif SC"/>
              </a:rPr>
              <a:t>整个过程你只需要看和判断。你的角色从「动手的人」变成「审核的人」。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97280" y="6126480"/>
            <a:ext cx="10058400" cy="0"/>
          </a:xfrm>
          <a:prstGeom prst="line">
            <a:avLst/>
          </a:prstGeom>
          <a:ln w="6350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97280" y="6217920"/>
            <a:ext cx="10058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300" b="0" i="0">
                <a:solidFill>
                  <a:srgbClr val="1B365D"/>
                </a:solidFill>
                <a:latin typeface="Source Han Serif SC"/>
              </a:rPr>
              <a:t>本质变化：AI 替你执行，你保留判断权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309360"/>
            <a:ext cx="1371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/>
            <a:r>
              <a:rPr sz="1100" b="0" i="0">
                <a:solidFill>
                  <a:srgbClr val="6B6A64"/>
                </a:solidFill>
                <a:latin typeface="Source Han Serif SC"/>
              </a:rPr>
              <a:t>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100" b="0" i="0">
                <a:solidFill>
                  <a:srgbClr val="6B6A64"/>
                </a:solidFill>
                <a:latin typeface="Source Han Serif SC"/>
              </a:rPr>
              <a:t>11 · 案例一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600" b="1" i="0">
                <a:solidFill>
                  <a:srgbClr val="141413"/>
                </a:solidFill>
                <a:latin typeface="Source Han Serif SC"/>
              </a:rPr>
              <a:t>把业务需求扔给它，三分钟拿到 SQL 和逐行解释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10058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 b="1" i="0">
                <a:solidFill>
                  <a:srgbClr val="3D3D3A"/>
                </a:solidFill>
                <a:latin typeface="Source Han Serif SC"/>
              </a:rPr>
              <a:t>做数字化看板的日常：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1005840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 b="0" i="0">
                <a:solidFill>
                  <a:srgbClr val="3D3D3A"/>
                </a:solidFill>
                <a:latin typeface="Source Han Serif SC"/>
              </a:rPr>
              <a:t>业务方发来「我想看华南区过去三个月退货率按品类排名」。把这个描述告诉 OpenCode，
它去翻你的数据库表结构，生成 SQL，同时用注释解释每一步的逻辑。
你只需要审核对不对——而不是从零开始拼 JOIN。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3474720"/>
            <a:ext cx="7589520" cy="731520"/>
          </a:xfrm>
          <a:prstGeom prst="roundRect">
            <a:avLst/>
          </a:prstGeom>
          <a:solidFill>
            <a:srgbClr val="EEF2F7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3474720"/>
            <a:ext cx="7589520" cy="7315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300" b="0" i="0">
                <a:solidFill>
                  <a:srgbClr val="1B365D"/>
                </a:solidFill>
                <a:latin typeface="Source Han Serif SC"/>
              </a:rPr>
              <a:t>🖼 [图片占位符：SQL 生成前后对比截图]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97280" y="6126480"/>
            <a:ext cx="10058400" cy="0"/>
          </a:xfrm>
          <a:prstGeom prst="line">
            <a:avLst/>
          </a:prstGeom>
          <a:ln w="6350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97280" y="6217920"/>
            <a:ext cx="10058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300" b="0" i="0">
                <a:solidFill>
                  <a:srgbClr val="1B365D"/>
                </a:solidFill>
                <a:latin typeface="Source Han Serif SC"/>
              </a:rPr>
              <a:t>关键转变：你的角色从「写 SQL 的人」变成了「审核 SQL 的人」。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309360"/>
            <a:ext cx="1371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/>
            <a:r>
              <a:rPr sz="1100" b="0" i="0">
                <a:solidFill>
                  <a:srgbClr val="6B6A64"/>
                </a:solidFill>
                <a:latin typeface="Source Han Serif SC"/>
              </a:rPr>
              <a:t>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100" b="0" i="0">
                <a:solidFill>
                  <a:srgbClr val="6B6A64"/>
                </a:solidFill>
                <a:latin typeface="Source Han Serif SC"/>
              </a:rPr>
              <a:t>12 · 案例二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600" b="1" i="0">
                <a:solidFill>
                  <a:srgbClr val="141413"/>
                </a:solidFill>
                <a:latin typeface="Source Han Serif SC"/>
              </a:rPr>
              <a:t>零散笔记扔进去，按你的模板格式输出完整会议纪要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10058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 b="1" i="0">
                <a:solidFill>
                  <a:srgbClr val="3D3D3A"/>
                </a:solidFill>
                <a:latin typeface="Source Han Serif SC"/>
              </a:rPr>
              <a:t>你只记了关键词、几个数字、三个待办事项。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10058400" cy="10972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 b="0" i="0">
                <a:solidFill>
                  <a:srgbClr val="3D3D3A"/>
                </a:solidFill>
                <a:latin typeface="Source Han Serif SC"/>
              </a:rPr>
              <a:t>告诉 OpenCode：「把这些笔记按以下格式整理成会议纪要——
会议主题 / 参会人 / 核心结论 / 待办事项（责任人+截止日期）/ 下次会议时间」。
它自动识别关键信息、结构化输出、格式统一。四十分钟的整理变成两分钟审核。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3657600"/>
            <a:ext cx="7589520" cy="731520"/>
          </a:xfrm>
          <a:prstGeom prst="roundRect">
            <a:avLst/>
          </a:prstGeom>
          <a:solidFill>
            <a:srgbClr val="EEF2F7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3657600"/>
            <a:ext cx="7589520" cy="7315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300" b="0" i="0">
                <a:solidFill>
                  <a:srgbClr val="1B365D"/>
                </a:solidFill>
                <a:latin typeface="Source Han Serif SC"/>
              </a:rPr>
              <a:t>🖼 [图片占位符：会议纪要生成示例]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97280" y="6126480"/>
            <a:ext cx="10058400" cy="0"/>
          </a:xfrm>
          <a:prstGeom prst="line">
            <a:avLst/>
          </a:prstGeom>
          <a:ln w="6350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97280" y="6217920"/>
            <a:ext cx="10058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300" b="0" i="0">
                <a:solidFill>
                  <a:srgbClr val="1B365D"/>
                </a:solidFill>
                <a:latin typeface="Source Han Serif SC"/>
              </a:rPr>
              <a:t>「以前每次开完会最怕整理纪要，现在开完会最轻松的就是这一步。」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309360"/>
            <a:ext cx="1371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/>
            <a:r>
              <a:rPr sz="1100" b="0" i="0">
                <a:solidFill>
                  <a:srgbClr val="6B6A64"/>
                </a:solidFill>
                <a:latin typeface="Source Han Serif SC"/>
              </a:rPr>
              <a:t> 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100" b="0" i="0">
                <a:solidFill>
                  <a:srgbClr val="6B6A64"/>
                </a:solidFill>
                <a:latin typeface="Source Han Serif SC"/>
              </a:rPr>
              <a:t>13 · 案例三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600" b="1" i="0">
                <a:solidFill>
                  <a:srgbClr val="141413"/>
                </a:solidFill>
                <a:latin typeface="Source Han Serif SC"/>
              </a:rPr>
              <a:t>用自然语言描述流程，十秒生成可直接粘贴的流程图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10058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 b="1" i="0">
                <a:solidFill>
                  <a:srgbClr val="3D3D3A"/>
                </a:solidFill>
                <a:latin typeface="Source Han Serif SC"/>
              </a:rPr>
              <a:t>告别拖拽画图。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10058400" cy="10972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 b="0" i="0">
                <a:solidFill>
                  <a:srgbClr val="3D3D3A"/>
                </a:solidFill>
                <a:latin typeface="Source Han Serif SC"/>
              </a:rPr>
              <a:t>告诉 OpenCode：「画一个采购审批流程：申请人提交→部门经理审批→
金额超 5,000 转财务总监→审批通过后生成采购单」。
它生成 Mermaid 代码，你粘贴到飞书文档——直接渲染成流程图。
改需求？改文字描述就行，不用重画。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3657600"/>
            <a:ext cx="7589520" cy="731520"/>
          </a:xfrm>
          <a:prstGeom prst="roundRect">
            <a:avLst/>
          </a:prstGeom>
          <a:solidFill>
            <a:srgbClr val="EEF2F7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3657600"/>
            <a:ext cx="7589520" cy="7315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300" b="0" i="0">
                <a:solidFill>
                  <a:srgbClr val="1B365D"/>
                </a:solidFill>
                <a:latin typeface="Source Han Serif SC"/>
              </a:rPr>
              <a:t>🖼 [图片占位符：流程图生成示例]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97280" y="6126480"/>
            <a:ext cx="10058400" cy="0"/>
          </a:xfrm>
          <a:prstGeom prst="line">
            <a:avLst/>
          </a:prstGeom>
          <a:ln w="6350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97280" y="6217920"/>
            <a:ext cx="10058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300" b="0" i="0">
                <a:solidFill>
                  <a:srgbClr val="1B365D"/>
                </a:solidFill>
                <a:latin typeface="Source Han Serif SC"/>
              </a:rPr>
              <a:t>比拖拽画图快十倍。修改成本从「重画」变成「重写一句话」。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309360"/>
            <a:ext cx="1371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/>
            <a:r>
              <a:rPr sz="1100" b="0" i="0">
                <a:solidFill>
                  <a:srgbClr val="6B6A64"/>
                </a:solidFill>
                <a:latin typeface="Source Han Serif SC"/>
              </a:rPr>
              <a:t> 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100" b="0" i="0">
                <a:solidFill>
                  <a:srgbClr val="6B6A64"/>
                </a:solidFill>
                <a:latin typeface="Source Han Serif SC"/>
              </a:rPr>
              <a:t>14 · 更多场景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800" b="1" i="0">
                <a:solidFill>
                  <a:srgbClr val="141413"/>
                </a:solidFill>
                <a:latin typeface="Source Han Serif SC"/>
              </a:rPr>
              <a:t>这四个场景，你下周就能用上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194560"/>
            <a:ext cx="5029200" cy="1645920"/>
          </a:xfrm>
          <a:prstGeom prst="roundRect">
            <a:avLst/>
          </a:prstGeom>
          <a:solidFill>
            <a:srgbClr val="FAF9F5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3480" y="2270760"/>
            <a:ext cx="4572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200" b="1" i="0">
                <a:solidFill>
                  <a:srgbClr val="1B365D"/>
                </a:solidFill>
                <a:latin typeface="Source Han Serif SC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270760"/>
            <a:ext cx="41148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 i="0">
                <a:solidFill>
                  <a:srgbClr val="141413"/>
                </a:solidFill>
                <a:latin typeface="Source Han Serif SC"/>
              </a:rPr>
              <a:t>Excel 清洗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743200"/>
            <a:ext cx="46634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300" b="0" i="0">
                <a:solidFill>
                  <a:srgbClr val="3D3D3A"/>
                </a:solidFill>
                <a:latin typeface="Source Han Serif SC"/>
              </a:rPr>
              <a:t>多个系统导出的 CSV 合并、去重、分类。
试试：「把这三个 CSV 合并，按供应商代码去重」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194560"/>
            <a:ext cx="5029200" cy="1645920"/>
          </a:xfrm>
          <a:prstGeom prst="roundRect">
            <a:avLst/>
          </a:prstGeom>
          <a:solidFill>
            <a:srgbClr val="FAF9F5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59880" y="2270760"/>
            <a:ext cx="4572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200" b="1" i="0">
                <a:solidFill>
                  <a:srgbClr val="1B365D"/>
                </a:solidFill>
                <a:latin typeface="Source Han Serif SC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270760"/>
            <a:ext cx="41148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 i="0">
                <a:solidFill>
                  <a:srgbClr val="141413"/>
                </a:solidFill>
                <a:latin typeface="Source Han Serif SC"/>
              </a:rPr>
              <a:t>需求文档标准化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743200"/>
            <a:ext cx="46634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300" b="0" i="0">
                <a:solidFill>
                  <a:srgbClr val="3D3D3A"/>
                </a:solidFill>
                <a:latin typeface="Source Han Serif SC"/>
              </a:rPr>
              <a:t>业务需求五花八门→按统一模板重排。
试试：「按标准模板重排：背景/诉求/验收标准」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206240"/>
            <a:ext cx="5029200" cy="1645920"/>
          </a:xfrm>
          <a:prstGeom prst="roundRect">
            <a:avLst/>
          </a:prstGeom>
          <a:solidFill>
            <a:srgbClr val="FAF9F5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3480" y="4282440"/>
            <a:ext cx="4572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200" b="1" i="0">
                <a:solidFill>
                  <a:srgbClr val="1B365D"/>
                </a:solidFill>
                <a:latin typeface="Source Han Serif SC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282440"/>
            <a:ext cx="41148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 i="0">
                <a:solidFill>
                  <a:srgbClr val="141413"/>
                </a:solidFill>
                <a:latin typeface="Source Han Serif SC"/>
              </a:rPr>
              <a:t>写周报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754880"/>
            <a:ext cx="46634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300" b="0" i="0">
                <a:solidFill>
                  <a:srgbClr val="3D3D3A"/>
                </a:solidFill>
                <a:latin typeface="Source Han Serif SC"/>
              </a:rPr>
              <a:t>几件事列清单→扩写成完整周报。
试试：「做了供应商风险分析、上线退货率看板」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4206240"/>
            <a:ext cx="5029200" cy="1645920"/>
          </a:xfrm>
          <a:prstGeom prst="roundRect">
            <a:avLst/>
          </a:prstGeom>
          <a:solidFill>
            <a:srgbClr val="FAF9F5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59880" y="4282440"/>
            <a:ext cx="4572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200" b="1" i="0">
                <a:solidFill>
                  <a:srgbClr val="1B365D"/>
                </a:solidFill>
                <a:latin typeface="Source Han Serif SC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282440"/>
            <a:ext cx="41148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 i="0">
                <a:solidFill>
                  <a:srgbClr val="141413"/>
                </a:solidFill>
                <a:latin typeface="Source Han Serif SC"/>
              </a:rPr>
              <a:t>还能干什么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754880"/>
            <a:ext cx="46634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300" b="0" i="0">
                <a:solidFill>
                  <a:srgbClr val="3D3D3A"/>
                </a:solidFill>
                <a:latin typeface="Source Han Serif SC"/>
              </a:rPr>
              <a:t>翻译技术文档 · 竞品调研摘要 · 解释 API ·
生成测试用例 · 批量通知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309360"/>
            <a:ext cx="1371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/>
            <a:r>
              <a:rPr sz="1100" b="0" i="0">
                <a:solidFill>
                  <a:srgbClr val="6B6A64"/>
                </a:solidFill>
                <a:latin typeface="Source Han Serif SC"/>
              </a:rPr>
              <a:t> 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100" b="0" i="0">
                <a:solidFill>
                  <a:srgbClr val="6B6A64"/>
                </a:solidFill>
                <a:latin typeface="Source Han Serif SC"/>
              </a:rPr>
              <a:t>15 · 避坑指南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800" b="1" i="0">
                <a:solidFill>
                  <a:srgbClr val="141413"/>
                </a:solidFill>
                <a:latin typeface="Source Han Serif SC"/>
              </a:rPr>
              <a:t>AI 不是万能的——三个必须知道的坑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103120"/>
            <a:ext cx="10058400" cy="1097280"/>
          </a:xfrm>
          <a:prstGeom prst="roundRect">
            <a:avLst/>
          </a:prstGeom>
          <a:solidFill>
            <a:srgbClr val="FAF9F5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153920"/>
            <a:ext cx="96012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500" b="1" i="0">
                <a:solidFill>
                  <a:srgbClr val="141413"/>
                </a:solidFill>
                <a:latin typeface="Source Han Serif SC"/>
              </a:rPr>
              <a:t>① AI 会一本正经地胡说八道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560320"/>
            <a:ext cx="960120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 i="0">
                <a:solidFill>
                  <a:srgbClr val="3D3D3A"/>
                </a:solidFill>
                <a:latin typeface="Source Han Serif SC"/>
              </a:rPr>
              <a:t>它自信地说 SQL 没问题——但字段名可能不存在，JOIN 方向可能反了。
SQL 跑一下再交。你审核过的才对。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383279"/>
            <a:ext cx="10058400" cy="1097280"/>
          </a:xfrm>
          <a:prstGeom prst="roundRect">
            <a:avLst/>
          </a:prstGeom>
          <a:solidFill>
            <a:srgbClr val="FAF9F5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434079"/>
            <a:ext cx="96012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500" b="1" i="0">
                <a:solidFill>
                  <a:srgbClr val="141413"/>
                </a:solidFill>
                <a:latin typeface="Source Han Serif SC"/>
              </a:rPr>
              <a:t>② 不要贴敏感数据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840479"/>
            <a:ext cx="960120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 i="0">
                <a:solidFill>
                  <a:srgbClr val="3D3D3A"/>
                </a:solidFill>
                <a:latin typeface="Source Han Serif SC"/>
              </a:rPr>
              <a:t>用外部 API 时，数据会发到云端。
公司内网自部署的模型，数据不出内网，才是安全的。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663440"/>
            <a:ext cx="10058400" cy="1097280"/>
          </a:xfrm>
          <a:prstGeom prst="roundRect">
            <a:avLst/>
          </a:prstGeom>
          <a:solidFill>
            <a:srgbClr val="FAF9F5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4714240"/>
            <a:ext cx="96012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500" b="1" i="0">
                <a:solidFill>
                  <a:srgbClr val="141413"/>
                </a:solidFill>
                <a:latin typeface="Source Han Serif SC"/>
              </a:rPr>
              <a:t>③ 你的角色是审核，不是照单全收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5120640"/>
            <a:ext cx="960120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 i="0">
                <a:solidFill>
                  <a:srgbClr val="3D3D3A"/>
                </a:solidFill>
                <a:latin typeface="Source Han Serif SC"/>
              </a:rPr>
              <a:t>AI 是你的实习生——手脚快但不一定靠谱。最终决策永远是你。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394960"/>
            <a:ext cx="10058400" cy="548640"/>
          </a:xfrm>
          <a:prstGeom prst="roundRect">
            <a:avLst/>
          </a:prstGeom>
          <a:solidFill>
            <a:srgbClr val="EEF2F7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5440680"/>
            <a:ext cx="969264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 i="0">
                <a:solidFill>
                  <a:srgbClr val="1B365D"/>
                </a:solidFill>
                <a:latin typeface="Source Han Serif SC"/>
              </a:rPr>
              <a:t>🔒 公司内网使用的自部署大模型，数据不出网络，不存在泄露风险。但在个人设备或外部工具使用时仍需注意。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309360"/>
            <a:ext cx="1371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/>
            <a:r>
              <a:rPr sz="1100" b="0" i="0">
                <a:solidFill>
                  <a:srgbClr val="6B6A64"/>
                </a:solidFill>
                <a:latin typeface="Source Han Serif SC"/>
              </a:rPr>
              <a:t> 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100" b="0" i="0">
                <a:solidFill>
                  <a:srgbClr val="6B6A64"/>
                </a:solidFill>
                <a:latin typeface="Source Han Serif SC"/>
              </a:rPr>
              <a:t>16 · 怎么开始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800" b="1" i="0">
                <a:solidFill>
                  <a:srgbClr val="141413"/>
                </a:solidFill>
                <a:latin typeface="Source Han Serif SC"/>
              </a:rPr>
              <a:t>三步装好 OpenCode，今天下班前就能试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011680"/>
            <a:ext cx="4754880" cy="2286000"/>
          </a:xfrm>
          <a:prstGeom prst="roundRect">
            <a:avLst/>
          </a:prstGeom>
          <a:solidFill>
            <a:srgbClr val="FAF9F5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103120"/>
            <a:ext cx="43891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600" b="1" i="0">
                <a:solidFill>
                  <a:srgbClr val="141413"/>
                </a:solidFill>
                <a:latin typeface="Source Han Serif SC"/>
              </a:rPr>
              <a:t>安装（三分钟）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560320"/>
            <a:ext cx="43891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300" b="0" i="0">
                <a:solidFill>
                  <a:srgbClr val="3D3D3A"/>
                </a:solidFill>
                <a:latin typeface="Source Han Serif SC"/>
              </a:rPr>
              <a:t>① 装 Node.js：官网下载，一路下一步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26080"/>
            <a:ext cx="43891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 i="0">
                <a:solidFill>
                  <a:srgbClr val="1B365D"/>
                </a:solidFill>
                <a:latin typeface="Consolas"/>
              </a:rPr>
              <a:t>② 终端输入：npm install -g opencode-ai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3383280"/>
            <a:ext cx="4389120" cy="457200"/>
          </a:xfrm>
          <a:prstGeom prst="roundRect">
            <a:avLst/>
          </a:prstGeom>
          <a:solidFill>
            <a:srgbClr val="EEF2F7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401568"/>
            <a:ext cx="420624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0" i="0">
                <a:solidFill>
                  <a:srgbClr val="1B365D"/>
                </a:solidFill>
                <a:latin typeface="Source Han Serif SC"/>
              </a:rPr>
              <a:t>⚠ 内网环境需配置 npm 内部镜像，或联系 AI 团队获取离线安装包。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931920"/>
            <a:ext cx="43891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300" b="0" i="0">
                <a:solidFill>
                  <a:srgbClr val="3D3D3A"/>
                </a:solidFill>
                <a:latin typeface="Source Han Serif SC"/>
              </a:rPr>
              <a:t>③ 配置一个 API Key（DeepSeek/Claude/GPT 任一即可）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011680"/>
            <a:ext cx="4754880" cy="2286000"/>
          </a:xfrm>
          <a:prstGeom prst="roundRect">
            <a:avLst/>
          </a:prstGeom>
          <a:solidFill>
            <a:srgbClr val="FAF9F5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103120"/>
            <a:ext cx="43891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600" b="1" i="0">
                <a:solidFill>
                  <a:srgbClr val="141413"/>
                </a:solidFill>
                <a:latin typeface="Source Han Serif SC"/>
              </a:rPr>
              <a:t>使用（从第一次就能干活）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60320"/>
            <a:ext cx="438912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300" b="0" i="0">
                <a:solidFill>
                  <a:srgbClr val="3D3D3A"/>
                </a:solidFill>
                <a:latin typeface="Source Han Serif SC"/>
              </a:rPr>
              <a:t>打开你的工作文件夹，打字告诉它你要什么。
不需要学语法，不需要会编程。会打字就够。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383280"/>
            <a:ext cx="438912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300" b="0" i="0">
                <a:solidFill>
                  <a:srgbClr val="504E49"/>
                </a:solidFill>
                <a:latin typeface="Source Han Serif SC"/>
              </a:rPr>
              <a:t>第一次建议从一个已经会做的任务开始——
比如让它帮你转一条 SQL，
对比你自己的写法，建立信任感。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97280" y="6126480"/>
            <a:ext cx="10058400" cy="0"/>
          </a:xfrm>
          <a:prstGeom prst="line">
            <a:avLst/>
          </a:prstGeom>
          <a:ln w="6350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97280" y="6217920"/>
            <a:ext cx="10058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300" b="0" i="0">
                <a:solidFill>
                  <a:srgbClr val="1B365D"/>
                </a:solidFill>
                <a:latin typeface="Source Han Serif SC"/>
              </a:rPr>
              <a:t>不需要「学完再用」。直接拿一个真实任务试，边用边学最快。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309360"/>
            <a:ext cx="1371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/>
            <a:r>
              <a:rPr sz="1100" b="0" i="0">
                <a:solidFill>
                  <a:srgbClr val="6B6A64"/>
                </a:solidFill>
                <a:latin typeface="Source Han Serif SC"/>
              </a:rPr>
              <a:t> 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100" b="0" i="0">
                <a:solidFill>
                  <a:srgbClr val="6B6A64"/>
                </a:solidFill>
                <a:latin typeface="Source Han Serif SC"/>
              </a:rPr>
              <a:t>17 · 关注谁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800" b="1" i="0">
                <a:solidFill>
                  <a:srgbClr val="141413"/>
                </a:solidFill>
                <a:latin typeface="Source Han Serif SC"/>
              </a:rPr>
              <a:t>推荐 6 位中文 AI 圈值得关注的人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2860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 b="1" i="0">
                <a:solidFill>
                  <a:srgbClr val="1B365D"/>
                </a:solidFill>
                <a:latin typeface="Source Han Serif SC"/>
              </a:rPr>
              <a:t>宝玉 xp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103120"/>
            <a:ext cx="77724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300" b="0" i="0">
                <a:solidFill>
                  <a:srgbClr val="3D3D3A"/>
                </a:solidFill>
                <a:latin typeface="Source Han Serif SC"/>
              </a:rPr>
              <a:t>AI 最通俗的讲解者，入门必追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22860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 b="1" i="0">
                <a:solidFill>
                  <a:srgbClr val="1B365D"/>
                </a:solidFill>
                <a:latin typeface="Source Han Serif SC"/>
              </a:rPr>
              <a:t>归藏的 AI 工具箱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743200"/>
            <a:ext cx="77724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300" b="0" i="0">
                <a:solidFill>
                  <a:srgbClr val="3D3D3A"/>
                </a:solidFill>
                <a:latin typeface="Source Han Serif SC"/>
              </a:rPr>
              <a:t>效率工具评测，不想了解技术、只想用好工具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79"/>
            <a:ext cx="22860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 b="1" i="0">
                <a:solidFill>
                  <a:srgbClr val="1B365D"/>
                </a:solidFill>
                <a:latin typeface="Source Han Serif SC"/>
              </a:rPr>
              <a:t>腾讯研究院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383279"/>
            <a:ext cx="77724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300" b="0" i="0">
                <a:solidFill>
                  <a:srgbClr val="3D3D3A"/>
                </a:solidFill>
                <a:latin typeface="Source Han Serif SC"/>
              </a:rPr>
              <a:t>机构视角的 AI 趋势分析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23359"/>
            <a:ext cx="22860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 b="1" i="0">
                <a:solidFill>
                  <a:srgbClr val="1B365D"/>
                </a:solidFill>
                <a:latin typeface="Source Han Serif SC"/>
              </a:rPr>
              <a:t>数字生命卡兹克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4023359"/>
            <a:ext cx="77724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300" b="0" i="0">
                <a:solidFill>
                  <a:srgbClr val="3D3D3A"/>
                </a:solidFill>
                <a:latin typeface="Source Han Serif SC"/>
              </a:rPr>
              <a:t>AI 创意视觉方向，轻松有趣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663440"/>
            <a:ext cx="22860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 b="1" i="0">
                <a:solidFill>
                  <a:srgbClr val="1B365D"/>
                </a:solidFill>
                <a:latin typeface="Source Han Serif SC"/>
              </a:rPr>
              <a:t>AI 产品黄叔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663440"/>
            <a:ext cx="77724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300" b="0" i="0">
                <a:solidFill>
                  <a:srgbClr val="3D3D3A"/>
                </a:solidFill>
                <a:latin typeface="Source Han Serif SC"/>
              </a:rPr>
              <a:t>产品经理视角，不讲代码讲场景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303520"/>
            <a:ext cx="22860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 b="1" i="0">
                <a:solidFill>
                  <a:srgbClr val="1B365D"/>
                </a:solidFill>
                <a:latin typeface="Source Han Serif SC"/>
              </a:rPr>
              <a:t>鱼总聊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5303520"/>
            <a:ext cx="77724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300" b="0" i="0">
                <a:solidFill>
                  <a:srgbClr val="3D3D3A"/>
                </a:solidFill>
                <a:latin typeface="Source Han Serif SC"/>
              </a:rPr>
              <a:t>深度行业解读，不只表面新闻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760720"/>
            <a:ext cx="10058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 i="0">
                <a:solidFill>
                  <a:srgbClr val="6B6A64"/>
                </a:solidFill>
                <a:latin typeface="Source Han Serif SC"/>
              </a:rPr>
              <a:t>建议先关注前面 2-3 位，看看风格合不合。关注太多反而刷不过来。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309360"/>
            <a:ext cx="1371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/>
            <a:r>
              <a:rPr sz="1100" b="0" i="0">
                <a:solidFill>
                  <a:srgbClr val="6B6A64"/>
                </a:solidFill>
                <a:latin typeface="Source Han Serif SC"/>
              </a:rPr>
              <a:t>  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360152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2400" b="1" i="0">
                <a:solidFill>
                  <a:srgbClr val="141413"/>
                </a:solidFill>
                <a:latin typeface="Source Han Serif SC"/>
              </a:rPr>
              <a:t>与其担心 AI 替代你，不如先让 AI 替你加班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914400"/>
            <a:ext cx="9418320" cy="914400"/>
          </a:xfrm>
          <a:prstGeom prst="roundRect">
            <a:avLst/>
          </a:prstGeom>
          <a:solidFill>
            <a:srgbClr val="1B365D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960120"/>
            <a:ext cx="905256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ource Han Serif SC"/>
              </a:rPr>
              <a:t>「一个会问问题的业务专家，胜过十个只会写代码的工程师。」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508760"/>
            <a:ext cx="90525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100" b="0" i="0">
                <a:solidFill>
                  <a:srgbClr val="B0B0B0"/>
                </a:solidFill>
                <a:latin typeface="Source Han Serif SC"/>
              </a:rPr>
              <a:t>—— 全场最值得记住的一句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941832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200" b="0" i="0">
                <a:solidFill>
                  <a:srgbClr val="141413"/>
                </a:solidFill>
                <a:latin typeface="Source Han Serif SC"/>
              </a:rPr>
              <a:t>「AI 不会取代你，但会用 AI 的人会。」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60320"/>
            <a:ext cx="941832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200" b="0" i="0">
                <a:solidFill>
                  <a:srgbClr val="141413"/>
                </a:solidFill>
                <a:latin typeface="Source Han Serif SC"/>
              </a:rPr>
              <a:t>「把重复劳动交给机器，把判断力留给自己。」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108960"/>
            <a:ext cx="941832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200" b="0" i="0">
                <a:solidFill>
                  <a:srgbClr val="141413"/>
                </a:solidFill>
                <a:latin typeface="Source Han Serif SC"/>
              </a:rPr>
              <a:t>「如果把厨师关进空房间——没锅、没刀、没冰箱——他再厉害也做不出饭。」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57600"/>
            <a:ext cx="941832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200" b="0" i="0">
                <a:solidFill>
                  <a:srgbClr val="141413"/>
                </a:solidFill>
                <a:latin typeface="Source Han Serif SC"/>
              </a:rPr>
              <a:t>「很多公司做的所谓 Agent，其实是厨师 + 几本固定菜谱。」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206240"/>
            <a:ext cx="941832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200" b="0" i="0">
                <a:solidFill>
                  <a:srgbClr val="141413"/>
                </a:solidFill>
                <a:latin typeface="Source Han Serif SC"/>
              </a:rPr>
              <a:t>「未来的核心竞争力，不再是『会不会』，而是『问不问得对』。」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754880"/>
            <a:ext cx="941832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300" b="0" i="0">
                <a:solidFill>
                  <a:srgbClr val="141413"/>
                </a:solidFill>
                <a:latin typeface="Source Han Serif SC"/>
              </a:rPr>
              <a:t>「AI 不是替代你，是放大你。用 AI 做事，不是为了证明 AI 厉害——
而是为了让你有更多时间，做只有你能做的事。」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29200" y="6126480"/>
            <a:ext cx="2130552" cy="0"/>
          </a:xfrm>
          <a:prstGeom prst="line">
            <a:avLst/>
          </a:prstGeom>
          <a:ln w="19050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71600" y="6217920"/>
            <a:ext cx="94183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400" b="0" i="0">
                <a:solidFill>
                  <a:srgbClr val="141413"/>
                </a:solidFill>
                <a:latin typeface="Source Han Serif SC"/>
              </a:rPr>
              <a:t>工具在进化，但你懂业务这件事——AI 永远追不上。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09360"/>
            <a:ext cx="1371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/>
            <a:r>
              <a:rPr sz="1100" b="0" i="0">
                <a:solidFill>
                  <a:srgbClr val="6B6A64"/>
                </a:solidFill>
                <a:latin typeface="Source Han Serif SC"/>
              </a:rPr>
              <a:t> 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